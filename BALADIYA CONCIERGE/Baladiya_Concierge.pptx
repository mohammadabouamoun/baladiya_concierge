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8A9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5029200" cy="5029200"/>
          </a:xfrm>
          <a:prstGeom prst="ellipse">
            <a:avLst/>
          </a:prstGeom>
          <a:solidFill>
            <a:srgbClr val="E8A33D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143000" cy="114300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0744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· FINAL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Baladiya Concierge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bilingual assistant for your town hall.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residents talk to their municipality — </a:t>
            </a:r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Arabic or English, any time.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Mohammad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your town hall is hard.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342900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377440"/>
            <a:ext cx="914400" cy="91440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26151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 I even call?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4300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the right department — or the office is already closed.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26280" y="2011680"/>
            <a:ext cx="34290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011680"/>
            <a:ext cx="342900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2377440"/>
            <a:ext cx="914400" cy="91440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6151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Confusing forms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84632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 is slow, unclear, and easy to get wrong.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29600" y="2011680"/>
            <a:ext cx="34290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2011680"/>
            <a:ext cx="342900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Shape 14"/>
          <p:cNvSpPr/>
          <p:nvPr/>
        </p:nvSpPr>
        <p:spPr>
          <a:xfrm>
            <a:off x="8549640" y="2377440"/>
            <a:ext cx="914400" cy="91440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261518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4964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 left behind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54964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tools serve Arabic-speaking residents poorly.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2296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resident has had this problem. My project fixes it.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chat assistant on the town's own website.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8448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73405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3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→ get a real answer.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362212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51129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3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problem → it gets logged.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399361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28853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3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English and Arabic (incl. Lebanese).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822960" y="5715000"/>
            <a:ext cx="6035040" cy="640080"/>
          </a:xfrm>
          <a:prstGeom prst="rect">
            <a:avLst/>
          </a:prstGeom>
          <a:solidFill>
            <a:srgbClr val="EAF3F4"/>
          </a:solidFill>
          <a:ln/>
        </p:spPr>
      </p:sp>
      <p:sp>
        <p:nvSpPr>
          <p:cNvPr id="14" name="Text 9"/>
          <p:cNvSpPr/>
          <p:nvPr/>
        </p:nvSpPr>
        <p:spPr>
          <a:xfrm>
            <a:off x="960120" y="5715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 Idea  →  How it works  →  Demo  →  Challenges  →  Next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822960"/>
            <a:ext cx="4114800" cy="5394960"/>
          </a:xfrm>
          <a:prstGeom prst="rect">
            <a:avLst/>
          </a:prstGeom>
          <a:solidFill>
            <a:srgbClr val="0E3A4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0" y="822960"/>
            <a:ext cx="4114800" cy="640080"/>
          </a:xfrm>
          <a:prstGeom prst="rect">
            <a:avLst/>
          </a:prstGeom>
          <a:solidFill>
            <a:srgbClr val="0A2A31"/>
          </a:solidFill>
          <a:ln/>
        </p:spPr>
      </p:sp>
      <p:sp>
        <p:nvSpPr>
          <p:cNvPr id="17" name="Shape 12"/>
          <p:cNvSpPr/>
          <p:nvPr/>
        </p:nvSpPr>
        <p:spPr>
          <a:xfrm>
            <a:off x="7498080" y="914400"/>
            <a:ext cx="457200" cy="45720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0332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2440" y="822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Baladiya Assistant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595360" y="173736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1B8A9C"/>
          </a:solidFill>
          <a:ln/>
        </p:spPr>
      </p:sp>
      <p:sp>
        <p:nvSpPr>
          <p:cNvPr id="21" name="Text 15"/>
          <p:cNvSpPr/>
          <p:nvPr/>
        </p:nvSpPr>
        <p:spPr>
          <a:xfrm>
            <a:off x="8686800" y="1737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متى موعد جمع النفايات؟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498080" y="260604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5EFE3"/>
          </a:solidFill>
          <a:ln/>
        </p:spPr>
      </p:sp>
      <p:sp>
        <p:nvSpPr>
          <p:cNvPr id="23" name="Text 17"/>
          <p:cNvSpPr/>
          <p:nvPr/>
        </p:nvSpPr>
        <p:spPr>
          <a:xfrm>
            <a:off x="763524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43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يتم جمع النفايات كل يوم اثنين وخميس صباحاً.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595360" y="370332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B8A9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broken streetlight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498080" y="452628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E8A33D"/>
          </a:solidFill>
          <a:ln/>
        </p:spPr>
      </p:sp>
      <p:sp>
        <p:nvSpPr>
          <p:cNvPr id="27" name="Text 21"/>
          <p:cNvSpPr/>
          <p:nvPr/>
        </p:nvSpPr>
        <p:spPr>
          <a:xfrm>
            <a:off x="7635240" y="45262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 — please share the location 📍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Many towns. Fully separate.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60" y="21031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E3A4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Baladiya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3017520"/>
            <a:ext cx="-3611880" cy="1188720"/>
          </a:xfrm>
          <a:prstGeom prst="line">
            <a:avLst/>
          </a:prstGeom>
          <a:noFill/>
          <a:ln w="19050">
            <a:solidFill>
              <a:srgbClr val="1B8A9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554480" y="42062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83080" y="4434840"/>
            <a:ext cx="822960" cy="8229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50" y="464881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51760" y="44348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Beirut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65176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tenant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3017520"/>
            <a:ext cx="-502920" cy="1188720"/>
          </a:xfrm>
          <a:prstGeom prst="line">
            <a:avLst/>
          </a:prstGeom>
          <a:noFill/>
          <a:ln w="19050">
            <a:solidFill>
              <a:srgbClr val="1B8A9C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663440" y="42062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4434840"/>
            <a:ext cx="822960" cy="8229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010" y="4648810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44348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Tripoli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76072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tenant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3017520"/>
            <a:ext cx="2606040" cy="1188720"/>
          </a:xfrm>
          <a:prstGeom prst="line">
            <a:avLst/>
          </a:prstGeom>
          <a:noFill/>
          <a:ln w="19050">
            <a:solidFill>
              <a:srgbClr val="1B8A9C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7772400" y="42062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01000" y="4434840"/>
            <a:ext cx="822960" cy="8229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70" y="4648810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0" y="44348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Saida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86968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tenant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solidFill>
            <a:srgbClr val="EAF3F4"/>
          </a:solidFill>
          <a:ln/>
        </p:spPr>
      </p:sp>
      <p:sp>
        <p:nvSpPr>
          <p:cNvPr id="25" name="Text 20"/>
          <p:cNvSpPr/>
          <p:nvPr/>
        </p:nvSpPr>
        <p:spPr>
          <a:xfrm>
            <a:off x="960120" y="5897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language:  </a:t>
            </a:r>
            <a:pPr indent="0" marL="0">
              <a:buNone/>
            </a:pPr>
            <a:r>
              <a:rPr lang="en-US" sz="1450" i="1" dirty="0">
                <a:solidFill>
                  <a:srgbClr val="143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Shopify — but for town halls instead of shops.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things, every time.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128016" cy="2011680"/>
          </a:xfrm>
          <a:prstGeom prst="rect">
            <a:avLst/>
          </a:prstGeom>
          <a:solidFill>
            <a:srgbClr val="1B8A9C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286000"/>
            <a:ext cx="1005840" cy="100584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238" y="254751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46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Answers questions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514600" y="2651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town's own knowledge base — it doesn't make things up.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783080"/>
            <a:ext cx="128016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Shape 9"/>
          <p:cNvSpPr/>
          <p:nvPr/>
        </p:nvSpPr>
        <p:spPr>
          <a:xfrm>
            <a:off x="6720840" y="2286000"/>
            <a:ext cx="1005840" cy="10058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58" y="254751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Logs reports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046720" y="2651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issue, the location, and a verified phone number.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2960" y="402336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023360"/>
            <a:ext cx="128016" cy="2011680"/>
          </a:xfrm>
          <a:prstGeom prst="rect">
            <a:avLst/>
          </a:prstGeom>
          <a:solidFill>
            <a:srgbClr val="1B8A9C"/>
          </a:solidFill>
          <a:ln/>
        </p:spPr>
      </p:sp>
      <p:sp>
        <p:nvSpPr>
          <p:cNvPr id="18" name="Shape 14"/>
          <p:cNvSpPr/>
          <p:nvPr/>
        </p:nvSpPr>
        <p:spPr>
          <a:xfrm>
            <a:off x="1188720" y="4526280"/>
            <a:ext cx="1005840" cy="100584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4787798"/>
            <a:ext cx="482803" cy="482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1460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Knows its limits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514600" y="4892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a real person instead of guessing.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355080" y="4023360"/>
            <a:ext cx="5257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4023360"/>
            <a:ext cx="128016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Shape 19"/>
          <p:cNvSpPr/>
          <p:nvPr/>
        </p:nvSpPr>
        <p:spPr>
          <a:xfrm>
            <a:off x="6720840" y="4526280"/>
            <a:ext cx="1005840" cy="10058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358" y="4787798"/>
            <a:ext cx="482803" cy="482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4672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Blocks the junk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8046720" y="4892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and bad input are stopped before anything is saved.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1B8A9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280160" cy="12801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106436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see it work.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6868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→ town hall, in about 30 seconds.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80960" y="9144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458200" y="8686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0A2A31"/>
          </a:solidFill>
          <a:ln/>
        </p:spPr>
      </p:sp>
      <p:sp>
        <p:nvSpPr>
          <p:cNvPr id="11" name="Text 8"/>
          <p:cNvSpPr/>
          <p:nvPr/>
        </p:nvSpPr>
        <p:spPr>
          <a:xfrm>
            <a:off x="8641080" y="8686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in Arabic → get an answer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80960" y="22860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458200" y="22402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0A2A31"/>
          </a:solidFill>
          <a:ln/>
        </p:spPr>
      </p:sp>
      <p:sp>
        <p:nvSpPr>
          <p:cNvPr id="15" name="Text 12"/>
          <p:cNvSpPr/>
          <p:nvPr/>
        </p:nvSpPr>
        <p:spPr>
          <a:xfrm>
            <a:off x="8641080" y="2240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report → verify phone → reference no. BEY-2026-#####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680960" y="36576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458200" y="36118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0A2A31"/>
          </a:solidFill>
          <a:ln/>
        </p:spPr>
      </p:sp>
      <p:sp>
        <p:nvSpPr>
          <p:cNvPr id="19" name="Text 16"/>
          <p:cNvSpPr/>
          <p:nvPr/>
        </p:nvSpPr>
        <p:spPr>
          <a:xfrm>
            <a:off x="8641080" y="36118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admin screen → the report is already there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live is risky: 3 screenshots — chat answer → report form → admin list.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idea to working product.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3246120"/>
            <a:ext cx="9418320" cy="0"/>
          </a:xfrm>
          <a:prstGeom prst="line">
            <a:avLst/>
          </a:prstGeom>
          <a:noFill/>
          <a:ln w="31750">
            <a:solidFill>
              <a:srgbClr val="1B8A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697480"/>
            <a:ext cx="1097280" cy="10972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298277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 and write it down first.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69080" y="2697480"/>
            <a:ext cx="1097280" cy="10972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73" y="298277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520440" y="4389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brain, the website widget, the admin screens.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858000" y="2697480"/>
            <a:ext cx="1097280" cy="10972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3" y="298277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309360" y="4389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checks re-verify everything on every change.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646920" y="2697480"/>
            <a:ext cx="1097280" cy="10972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2213" y="2982773"/>
            <a:ext cx="526694" cy="5266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9828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098280" y="4389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with a single command.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solidFill>
            <a:srgbClr val="EAF3F4"/>
          </a:solidFill>
          <a:ln/>
        </p:spPr>
      </p:sp>
      <p:sp>
        <p:nvSpPr>
          <p:cNvPr id="22" name="Text 16"/>
          <p:cNvSpPr/>
          <p:nvPr/>
        </p:nvSpPr>
        <p:spPr>
          <a:xfrm>
            <a:off x="960120" y="5897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 </a:t>
            </a:r>
            <a:pPr indent="0" marL="0">
              <a:buNone/>
            </a:pPr>
            <a:r>
              <a:rPr lang="en-US" sz="1350" i="1" dirty="0">
                <a:solidFill>
                  <a:srgbClr val="143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tests re-check the whole system every change — so nothing quietly breaks.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B8A9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104058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SAFETY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town is sealed off from every other.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68680" y="5120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here isn't a switch you can turn off — it's built into the walls.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0" y="777240"/>
            <a:ext cx="3611880" cy="1554480"/>
          </a:xfrm>
          <a:prstGeom prst="rect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0" y="777240"/>
            <a:ext cx="109728" cy="1554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Shape 7"/>
          <p:cNvSpPr/>
          <p:nvPr/>
        </p:nvSpPr>
        <p:spPr>
          <a:xfrm>
            <a:off x="8458200" y="1051560"/>
            <a:ext cx="868680" cy="8686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057" y="127741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464040" y="9784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by design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46404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town can never see another's reports.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560320"/>
            <a:ext cx="3611880" cy="1554480"/>
          </a:xfrm>
          <a:prstGeom prst="rect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560320"/>
            <a:ext cx="109728" cy="1554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8200" y="2834640"/>
            <a:ext cx="868680" cy="8686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057" y="306049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64040" y="27614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info hidden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46404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phone numbers are auto-redacted in records.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0" y="4343400"/>
            <a:ext cx="3611880" cy="1554480"/>
          </a:xfrm>
          <a:prstGeom prst="rect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0" y="4343400"/>
            <a:ext cx="109728" cy="1554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Shape 17"/>
          <p:cNvSpPr/>
          <p:nvPr/>
        </p:nvSpPr>
        <p:spPr>
          <a:xfrm>
            <a:off x="8458200" y="4617720"/>
            <a:ext cx="868680" cy="8686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057" y="484357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64040" y="4544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Refuses trickery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464040" y="4983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attempts to make it misbehave.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still needs work.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31720"/>
            <a:ext cx="1005840" cy="100584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518" y="25932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prettier interface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023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polish and better accessibility for everyone.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429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331720"/>
            <a:ext cx="1005840" cy="100584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838" y="25932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Arabic data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4023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higher accuracy with more local examples.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2011680"/>
            <a:ext cx="3429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331720"/>
            <a:ext cx="1005840" cy="100584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158" y="259323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474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testing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4023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security testing before a live town uses it.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limits is maturity — said with confidence, not apology.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B8A9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486400" cy="5486400"/>
          </a:xfrm>
          <a:prstGeom prst="ellipse">
            <a:avLst/>
          </a:prstGeom>
          <a:solidFill>
            <a:srgbClr val="E8A33D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Reachable government — for everyone.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429000" cy="1828800"/>
          </a:xfrm>
          <a:prstGeom prst="rect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697480"/>
            <a:ext cx="868680" cy="8686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37" y="292333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residents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service, 24/7, in two languages.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2468880"/>
            <a:ext cx="3429000" cy="1828800"/>
          </a:xfrm>
          <a:prstGeom prst="rect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697480"/>
            <a:ext cx="868680" cy="868680"/>
          </a:xfrm>
          <a:prstGeom prst="ellipse">
            <a:avLst/>
          </a:prstGeom>
          <a:solidFill>
            <a:srgbClr val="1B8A9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457" y="292333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staff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0060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work, organised reports.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468880"/>
            <a:ext cx="3429000" cy="1828800"/>
          </a:xfrm>
          <a:prstGeom prst="rect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2697480"/>
            <a:ext cx="868680" cy="86868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77" y="292333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097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0392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Nicer UI, more dialects, a real town pilot.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0A2A3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30" y="51060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983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happy to take your questions.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178308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 ·  Baladiya Concierge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Baladiya Concierge</dc:title>
  <dc:subject>PptxGenJS Presentation</dc:subject>
  <dc:creator>Mohammad</dc:creator>
  <cp:lastModifiedBy>Mohammad</cp:lastModifiedBy>
  <cp:revision>1</cp:revision>
  <dcterms:created xsi:type="dcterms:W3CDTF">2026-06-18T07:24:34Z</dcterms:created>
  <dcterms:modified xsi:type="dcterms:W3CDTF">2026-06-18T07:24:34Z</dcterms:modified>
</cp:coreProperties>
</file>